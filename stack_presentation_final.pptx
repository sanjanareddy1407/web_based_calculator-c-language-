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Times New Roman MT" panose="02030502070405020303"/>
      <p:regular r:id="rId12"/>
    </p:embeddedFont>
    <p:embeddedFont>
      <p:font typeface="Times New Roman MT Bold" panose="02030802070405020303"/>
      <p:bold r:id="rId13"/>
    </p:embeddedFont>
    <p:embeddedFont>
      <p:font typeface="Times New Roman MT Condensed" panose="02030506070405020303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  <p:embeddedFont>
      <p:font typeface="Arial Black" panose="020B0A04020102020204" charset="0"/>
      <p:bold r:id="rId19"/>
    </p:embeddedFont>
    <p:embeddedFont>
      <p:font typeface="Bahnschrift Condensed" panose="020B0502040204020203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9.fntdata"/><Relationship Id="rId2" Type="http://schemas.openxmlformats.org/officeDocument/2006/relationships/theme" Target="theme/theme1.xml"/><Relationship Id="rId19" Type="http://schemas.openxmlformats.org/officeDocument/2006/relationships/font" Target="fonts/font8.fntdata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sv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2500" r="-12500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-358858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V="1">
            <a:off x="15399382" y="490732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996033" y="9053909"/>
            <a:ext cx="263267" cy="204391"/>
          </a:xfrm>
          <a:custGeom>
            <a:avLst/>
            <a:gdLst/>
            <a:ahLst/>
            <a:cxnLst/>
            <a:rect l="l" t="t" r="r" b="b"/>
            <a:pathLst>
              <a:path w="263267" h="204391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86073" y="1942985"/>
            <a:ext cx="13707860" cy="308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5400" spc="-446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WEB-BASED  MATHEMATICAL EXPRESSION  EVALUATOR</a:t>
            </a:r>
            <a:endParaRPr lang="en-US" sz="5400" spc="-446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5921917" y="1048018"/>
            <a:ext cx="1337383" cy="1157444"/>
          </a:xfrm>
          <a:custGeom>
            <a:avLst/>
            <a:gdLst/>
            <a:ahLst/>
            <a:cxnLst/>
            <a:rect l="l" t="t" r="r" b="b"/>
            <a:pathLst>
              <a:path w="1337383" h="1157444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 Box 9"/>
          <p:cNvSpPr txBox="1"/>
          <p:nvPr/>
        </p:nvSpPr>
        <p:spPr>
          <a:xfrm>
            <a:off x="10896600" y="8371840"/>
            <a:ext cx="8768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solidFill>
                  <a:schemeClr val="bg1"/>
                </a:solidFill>
                <a:latin typeface="Bahnschrift Condensed" panose="020B0502040204020203" charset="0"/>
                <a:cs typeface="Bahnschrift Condensed" panose="020B0502040204020203" charset="0"/>
              </a:rPr>
              <a:t>BY:-</a:t>
            </a:r>
            <a:endParaRPr lang="en-US" sz="3200">
              <a:solidFill>
                <a:schemeClr val="bg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  <a:p>
            <a:r>
              <a:rPr lang="en-US" sz="3200">
                <a:solidFill>
                  <a:schemeClr val="bg1"/>
                </a:solidFill>
                <a:latin typeface="Bahnschrift Condensed" panose="020B0502040204020203" charset="0"/>
                <a:cs typeface="Bahnschrift Condensed" panose="020B0502040204020203" charset="0"/>
              </a:rPr>
              <a:t>Harshal Kature (24006034)</a:t>
            </a:r>
            <a:endParaRPr lang="en-US" sz="3200">
              <a:solidFill>
                <a:schemeClr val="bg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  <a:p>
            <a:r>
              <a:rPr lang="en-US" sz="3200">
                <a:solidFill>
                  <a:schemeClr val="bg1"/>
                </a:solidFill>
                <a:latin typeface="Bahnschrift Condensed" panose="020B0502040204020203" charset="0"/>
                <a:cs typeface="Bahnschrift Condensed" panose="020B0502040204020203" charset="0"/>
              </a:rPr>
              <a:t>Sanjana Reddy (24006040)</a:t>
            </a:r>
            <a:endParaRPr lang="en-US" sz="3200">
              <a:solidFill>
                <a:schemeClr val="bg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2500" r="-12500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040973" y="2561885"/>
            <a:ext cx="5980010" cy="6696415"/>
            <a:chOff x="0" y="0"/>
            <a:chExt cx="6350000" cy="71107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7110730"/>
            </a:xfrm>
            <a:custGeom>
              <a:avLst/>
              <a:gdLst/>
              <a:ahLst/>
              <a:cxnLst/>
              <a:rect l="l" t="t" r="r" b="b"/>
              <a:pathLst>
                <a:path w="6350000" h="711073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2"/>
              <a:stretch>
                <a:fillRect l="-33880" r="-3388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V="1">
            <a:off x="1401182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8317705" y="1028700"/>
            <a:ext cx="3247475" cy="472360"/>
          </a:xfrm>
          <a:custGeom>
            <a:avLst/>
            <a:gdLst/>
            <a:ahLst/>
            <a:cxnLst/>
            <a:rect l="l" t="t" r="r" b="b"/>
            <a:pathLst>
              <a:path w="3247475" h="472360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58397" y="1625892"/>
            <a:ext cx="3966091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5"/>
              </a:lnSpc>
            </a:pPr>
            <a:r>
              <a:rPr lang="en-US" sz="5400" spc="-401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OVERVIEW</a:t>
            </a:r>
            <a:endParaRPr lang="en-US" sz="5400" spc="-401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699134" y="3500308"/>
            <a:ext cx="9300903" cy="316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5815" lvl="1" indent="-403225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3735" spc="-182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Infix to P</a:t>
            </a:r>
            <a:r>
              <a:rPr lang="en-US" sz="3735" spc="-182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ostfix Conversion &amp; Evaluation using Stack Data Structure</a:t>
            </a:r>
            <a:endParaRPr lang="en-US" sz="3735" spc="-182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4925"/>
              </a:lnSpc>
            </a:pPr>
          </a:p>
          <a:p>
            <a:pPr marL="805815" lvl="1" indent="-403225" algn="l">
              <a:lnSpc>
                <a:spcPts val="4925"/>
              </a:lnSpc>
              <a:buFont typeface="Arial" panose="020B0604020202020204"/>
              <a:buChar char="•"/>
            </a:pPr>
            <a:r>
              <a:rPr lang="en-US" sz="3735" spc="-182">
                <a:solidFill>
                  <a:srgbClr val="FFFF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Key Focus: Bridging Low-Level C Logic with Modern Web Interfaces.</a:t>
            </a:r>
            <a:endParaRPr lang="en-US" sz="3735" spc="-182">
              <a:solidFill>
                <a:srgbClr val="FFFF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1028700"/>
            <a:ext cx="6395583" cy="5593839"/>
            <a:chOff x="0" y="0"/>
            <a:chExt cx="3845637" cy="33635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637" cy="3363551"/>
            </a:xfrm>
            <a:custGeom>
              <a:avLst/>
              <a:gdLst/>
              <a:ahLst/>
              <a:cxnLst/>
              <a:rect l="l" t="t" r="r" b="b"/>
              <a:pathLst>
                <a:path w="3845637" h="3363551">
                  <a:moveTo>
                    <a:pt x="0" y="0"/>
                  </a:moveTo>
                  <a:lnTo>
                    <a:pt x="3845637" y="0"/>
                  </a:lnTo>
                  <a:lnTo>
                    <a:pt x="3845637" y="3363551"/>
                  </a:lnTo>
                  <a:lnTo>
                    <a:pt x="0" y="3363551"/>
                  </a:lnTo>
                  <a:close/>
                </a:path>
              </a:pathLst>
            </a:custGeom>
            <a:blipFill>
              <a:blip r:embed="rId1"/>
              <a:stretch>
                <a:fillRect l="-4073" r="-40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028700" y="6532268"/>
            <a:ext cx="6395583" cy="90271"/>
            <a:chOff x="0" y="0"/>
            <a:chExt cx="1684433" cy="237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84433" cy="23775"/>
            </a:xfrm>
            <a:custGeom>
              <a:avLst/>
              <a:gdLst/>
              <a:ahLst/>
              <a:cxnLst/>
              <a:rect l="l" t="t" r="r" b="b"/>
              <a:pathLst>
                <a:path w="1684433" h="23775">
                  <a:moveTo>
                    <a:pt x="0" y="0"/>
                  </a:moveTo>
                  <a:lnTo>
                    <a:pt x="1684433" y="0"/>
                  </a:lnTo>
                  <a:lnTo>
                    <a:pt x="1684433" y="23775"/>
                  </a:lnTo>
                  <a:lnTo>
                    <a:pt x="0" y="237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684433" cy="52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</a:p>
          </p:txBody>
        </p:sp>
      </p:grpSp>
      <p:sp>
        <p:nvSpPr>
          <p:cNvPr id="7" name="Freeform 7"/>
          <p:cNvSpPr/>
          <p:nvPr/>
        </p:nvSpPr>
        <p:spPr>
          <a:xfrm>
            <a:off x="9548223" y="8957351"/>
            <a:ext cx="285282" cy="321991"/>
          </a:xfrm>
          <a:custGeom>
            <a:avLst/>
            <a:gdLst/>
            <a:ahLst/>
            <a:cxnLst/>
            <a:rect l="l" t="t" r="r" b="b"/>
            <a:pathLst>
              <a:path w="285282" h="321991">
                <a:moveTo>
                  <a:pt x="0" y="0"/>
                </a:moveTo>
                <a:lnTo>
                  <a:pt x="285283" y="0"/>
                </a:lnTo>
                <a:lnTo>
                  <a:pt x="285283" y="321991"/>
                </a:lnTo>
                <a:lnTo>
                  <a:pt x="0" y="321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654048" y="1184187"/>
            <a:ext cx="4914280" cy="1728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spc="243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Fr</a:t>
            </a:r>
            <a:r>
              <a:rPr lang="en-US" sz="3200" b="1" spc="243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ontend: A web interface built with HTML/CSS/JS </a:t>
            </a:r>
            <a:endParaRPr lang="en-US" sz="3200" b="1" spc="243">
              <a:solidFill>
                <a:srgbClr val="38B6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48223" y="4499759"/>
            <a:ext cx="4227978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5"/>
              </a:lnSpc>
            </a:pPr>
            <a:r>
              <a:rPr lang="en-US" sz="3300" b="1" spc="36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Connector : A Python Flask server that acts as a bridge.</a:t>
            </a:r>
            <a:endParaRPr lang="en-US" sz="3300" b="1" spc="36">
              <a:solidFill>
                <a:srgbClr val="38B6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654048" y="8014706"/>
            <a:ext cx="5005767" cy="1519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200" b="1" spc="243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Backend : A compiled C pr</a:t>
            </a:r>
            <a:r>
              <a:rPr lang="en-US" sz="3200" b="1" spc="243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ogram that performs the stack operations.</a:t>
            </a:r>
            <a:endParaRPr lang="en-US" sz="3200" b="1" spc="243">
              <a:solidFill>
                <a:srgbClr val="38B6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1" name="AutoShape 11"/>
          <p:cNvSpPr/>
          <p:nvPr/>
        </p:nvSpPr>
        <p:spPr>
          <a:xfrm flipH="1" flipV="1">
            <a:off x="11724460" y="6423385"/>
            <a:ext cx="3432472" cy="165799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AutoShape 12"/>
          <p:cNvSpPr/>
          <p:nvPr/>
        </p:nvSpPr>
        <p:spPr>
          <a:xfrm flipH="1">
            <a:off x="11662213" y="2912657"/>
            <a:ext cx="3448975" cy="172997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7362822"/>
            <a:ext cx="6592155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5"/>
              </a:lnSpc>
            </a:pPr>
            <a:r>
              <a:rPr lang="en-US" sz="6600" spc="-401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WORKFLOW :</a:t>
            </a:r>
            <a:endParaRPr lang="en-US" sz="6600" spc="-401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1098" y="2429370"/>
            <a:ext cx="17705803" cy="2837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  <a:spcBef>
                <a:spcPct val="0"/>
              </a:spcBef>
            </a:pPr>
            <a:r>
              <a:rPr lang="en-US" sz="4165" spc="-204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 Stack is a linear data structure that follows the LIFO (Last-In-First-Of) principle.</a:t>
            </a:r>
            <a:endParaRPr lang="en-US" sz="4165" spc="-204">
              <a:solidFill>
                <a:schemeClr val="accent1">
                  <a:lumMod val="20000"/>
                  <a:lumOff val="80000"/>
                </a:schemeClr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899795" lvl="1" indent="-449580" algn="l">
              <a:lnSpc>
                <a:spcPts val="5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165" spc="-204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Push: Adding an element at top.</a:t>
            </a:r>
            <a:endParaRPr lang="en-US" sz="4165" spc="-204">
              <a:solidFill>
                <a:schemeClr val="accent1">
                  <a:lumMod val="20000"/>
                  <a:lumOff val="80000"/>
                </a:schemeClr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899795" lvl="1" indent="-449580" algn="l">
              <a:lnSpc>
                <a:spcPts val="55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165" spc="-204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Pop: Removing the top element.</a:t>
            </a:r>
            <a:endParaRPr lang="en-US" sz="4165" spc="-204">
              <a:solidFill>
                <a:schemeClr val="accent1">
                  <a:lumMod val="20000"/>
                  <a:lumOff val="80000"/>
                </a:schemeClr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ctr">
              <a:lnSpc>
                <a:spcPts val="5500"/>
              </a:lnSpc>
              <a:spcBef>
                <a:spcPct val="0"/>
              </a:spcBef>
            </a:pPr>
            <a:endParaRPr lang="en-US" sz="4165" spc="-204">
              <a:solidFill>
                <a:schemeClr val="accent1">
                  <a:lumMod val="20000"/>
                  <a:lumOff val="80000"/>
                </a:schemeClr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5676" y="933450"/>
            <a:ext cx="6592155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5"/>
              </a:lnSpc>
            </a:pPr>
            <a:r>
              <a:rPr lang="en-US" sz="5400" spc="-401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WHAT IS STACK ?</a:t>
            </a:r>
            <a:endParaRPr lang="en-US" sz="5400" spc="-401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1026" y="5407526"/>
            <a:ext cx="1914366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4800" spc="-318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INFIX:</a:t>
            </a:r>
            <a:endParaRPr lang="en-US" sz="4800" spc="-318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1026" y="6535069"/>
            <a:ext cx="7894999" cy="2813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  <a:spcBef>
                <a:spcPct val="0"/>
              </a:spcBef>
            </a:pPr>
            <a:r>
              <a:rPr lang="en-US" sz="4135" spc="-202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way humans write math (A + B). The operator is between operands. This requires parentheses and BODMAS rules to understand priority. </a:t>
            </a:r>
            <a:endParaRPr lang="en-US" sz="4135" spc="-202">
              <a:solidFill>
                <a:schemeClr val="accent1">
                  <a:lumMod val="20000"/>
                  <a:lumOff val="80000"/>
                </a:schemeClr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5407526"/>
            <a:ext cx="2777516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4400" spc="-318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POSTFIX:</a:t>
            </a:r>
            <a:endParaRPr lang="en-US" sz="4400" spc="-318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6463438"/>
            <a:ext cx="8852902" cy="295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  <a:spcBef>
                <a:spcPct val="0"/>
              </a:spcBef>
            </a:pPr>
            <a:r>
              <a:rPr lang="en-US" sz="4355" spc="-213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way computers prefer math (A B +). The operator follows the operands. No parentheses are needed, and there is no ambiguity in the order of operations.</a:t>
            </a:r>
            <a:r>
              <a:rPr lang="en-US" sz="4355" spc="-213">
                <a:solidFill>
                  <a:srgbClr val="38B6FF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</a:t>
            </a:r>
            <a:endParaRPr lang="en-US" sz="4355" spc="-213">
              <a:solidFill>
                <a:srgbClr val="38B6FF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476004" y="2250760"/>
            <a:ext cx="9313247" cy="7668878"/>
            <a:chOff x="0" y="0"/>
            <a:chExt cx="2452872" cy="20197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52872" cy="2019787"/>
            </a:xfrm>
            <a:custGeom>
              <a:avLst/>
              <a:gdLst/>
              <a:ahLst/>
              <a:cxnLst/>
              <a:rect l="l" t="t" r="r" b="b"/>
              <a:pathLst>
                <a:path w="2452872" h="2019787">
                  <a:moveTo>
                    <a:pt x="39901" y="0"/>
                  </a:moveTo>
                  <a:lnTo>
                    <a:pt x="2412970" y="0"/>
                  </a:lnTo>
                  <a:cubicBezTo>
                    <a:pt x="2423553" y="0"/>
                    <a:pt x="2433702" y="4204"/>
                    <a:pt x="2441185" y="11687"/>
                  </a:cubicBezTo>
                  <a:cubicBezTo>
                    <a:pt x="2448668" y="19170"/>
                    <a:pt x="2452872" y="29319"/>
                    <a:pt x="2452872" y="39901"/>
                  </a:cubicBezTo>
                  <a:lnTo>
                    <a:pt x="2452872" y="1979885"/>
                  </a:lnTo>
                  <a:cubicBezTo>
                    <a:pt x="2452872" y="1990468"/>
                    <a:pt x="2448668" y="2000617"/>
                    <a:pt x="2441185" y="2008100"/>
                  </a:cubicBezTo>
                  <a:cubicBezTo>
                    <a:pt x="2433702" y="2015583"/>
                    <a:pt x="2423553" y="2019787"/>
                    <a:pt x="2412970" y="2019787"/>
                  </a:cubicBezTo>
                  <a:lnTo>
                    <a:pt x="39901" y="2019787"/>
                  </a:lnTo>
                  <a:cubicBezTo>
                    <a:pt x="29319" y="2019787"/>
                    <a:pt x="19170" y="2015583"/>
                    <a:pt x="11687" y="2008100"/>
                  </a:cubicBezTo>
                  <a:cubicBezTo>
                    <a:pt x="4204" y="2000617"/>
                    <a:pt x="0" y="1990468"/>
                    <a:pt x="0" y="1979885"/>
                  </a:cubicBezTo>
                  <a:lnTo>
                    <a:pt x="0" y="39901"/>
                  </a:lnTo>
                  <a:cubicBezTo>
                    <a:pt x="0" y="29319"/>
                    <a:pt x="4204" y="19170"/>
                    <a:pt x="11687" y="11687"/>
                  </a:cubicBezTo>
                  <a:cubicBezTo>
                    <a:pt x="19170" y="4204"/>
                    <a:pt x="29319" y="0"/>
                    <a:pt x="39901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2452872" cy="2105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5"/>
                </a:lnSpc>
              </a:p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8021" y="2395859"/>
            <a:ext cx="5114009" cy="1471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95"/>
              </a:lnSpc>
              <a:spcBef>
                <a:spcPct val="0"/>
              </a:spcBef>
            </a:pPr>
            <a:r>
              <a:rPr lang="en-US" sz="3925" b="1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INFIX TO POSTFIX   CONVERSION  :</a:t>
            </a:r>
            <a:endParaRPr lang="en-US" sz="3925" b="1">
              <a:solidFill>
                <a:srgbClr val="FFFFFF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0007485" y="2270718"/>
            <a:ext cx="7771264" cy="7648920"/>
            <a:chOff x="0" y="0"/>
            <a:chExt cx="2046753" cy="20145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6753" cy="2014531"/>
            </a:xfrm>
            <a:custGeom>
              <a:avLst/>
              <a:gdLst/>
              <a:ahLst/>
              <a:cxnLst/>
              <a:rect l="l" t="t" r="r" b="b"/>
              <a:pathLst>
                <a:path w="2046753" h="2014531">
                  <a:moveTo>
                    <a:pt x="47819" y="0"/>
                  </a:moveTo>
                  <a:lnTo>
                    <a:pt x="1998934" y="0"/>
                  </a:lnTo>
                  <a:cubicBezTo>
                    <a:pt x="2025344" y="0"/>
                    <a:pt x="2046753" y="21409"/>
                    <a:pt x="2046753" y="47819"/>
                  </a:cubicBezTo>
                  <a:lnTo>
                    <a:pt x="2046753" y="1966712"/>
                  </a:lnTo>
                  <a:cubicBezTo>
                    <a:pt x="2046753" y="1993121"/>
                    <a:pt x="2025344" y="2014531"/>
                    <a:pt x="1998934" y="2014531"/>
                  </a:cubicBezTo>
                  <a:lnTo>
                    <a:pt x="47819" y="2014531"/>
                  </a:lnTo>
                  <a:cubicBezTo>
                    <a:pt x="35136" y="2014531"/>
                    <a:pt x="22974" y="2009492"/>
                    <a:pt x="14006" y="2000525"/>
                  </a:cubicBezTo>
                  <a:cubicBezTo>
                    <a:pt x="5038" y="1991557"/>
                    <a:pt x="0" y="1979394"/>
                    <a:pt x="0" y="1966712"/>
                  </a:cubicBezTo>
                  <a:lnTo>
                    <a:pt x="0" y="47819"/>
                  </a:lnTo>
                  <a:cubicBezTo>
                    <a:pt x="0" y="21409"/>
                    <a:pt x="21409" y="0"/>
                    <a:pt x="47819" y="0"/>
                  </a:cubicBezTo>
                  <a:close/>
                </a:path>
              </a:pathLst>
            </a:custGeom>
            <a:ln w="104775" cap="rnd">
              <a:gradFill>
                <a:gsLst>
                  <a:gs pos="0">
                    <a:srgbClr val="B4EAFF">
                      <a:alpha val="100000"/>
                    </a:srgbClr>
                  </a:gs>
                  <a:gs pos="100000">
                    <a:srgbClr val="0078A8">
                      <a:alpha val="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046753" cy="210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5"/>
                </a:lnSpc>
              </a:p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45514" y="281566"/>
            <a:ext cx="6042486" cy="1604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15"/>
              </a:lnSpc>
            </a:pPr>
            <a:r>
              <a:rPr lang="en-US" sz="6600" spc="-464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ALGORITHMS </a:t>
            </a:r>
            <a:endParaRPr lang="en-US" sz="6600" spc="-464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76004" y="4119685"/>
            <a:ext cx="8667996" cy="540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Operands  :  Append directly t</a:t>
            </a: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o Output.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Open Bracket   (  : Push to Stack.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Close Bracket   )  : Pop to Output until ( is found.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Operators  : While Stack Top precedence  &gt;=  Current precedence: Pop to Output.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Push Current Operator.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70585" lvl="1" indent="-434975" algn="l">
              <a:lnSpc>
                <a:spcPts val="5320"/>
              </a:lnSpc>
              <a:buAutoNum type="arabicPeriod"/>
            </a:pPr>
            <a:r>
              <a:rPr lang="en-US" sz="4030" spc="-197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End of String: Pop remaining stack to Output.</a:t>
            </a:r>
            <a:endParaRPr lang="en-US" sz="4030" spc="-197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algn="l">
              <a:lnSpc>
                <a:spcPts val="5320"/>
              </a:lnSpc>
            </a:pPr>
          </a:p>
        </p:txBody>
      </p:sp>
      <p:sp>
        <p:nvSpPr>
          <p:cNvPr id="12" name="TextBox 12"/>
          <p:cNvSpPr txBox="1"/>
          <p:nvPr/>
        </p:nvSpPr>
        <p:spPr>
          <a:xfrm>
            <a:off x="10361304" y="2686689"/>
            <a:ext cx="6467059" cy="861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55"/>
              </a:lnSpc>
              <a:spcBef>
                <a:spcPct val="0"/>
              </a:spcBef>
            </a:pPr>
            <a:r>
              <a:rPr lang="en-US" sz="4325" b="1">
                <a:solidFill>
                  <a:srgbClr val="FFFFFF"/>
                </a:solidFill>
                <a:latin typeface="Agrandir Bold" panose="00000800000000000000"/>
                <a:ea typeface="Agrandir Bold" panose="00000800000000000000"/>
                <a:cs typeface="Agrandir Bold" panose="00000800000000000000"/>
                <a:sym typeface="Agrandir Bold" panose="00000800000000000000"/>
              </a:rPr>
              <a:t> Postfix Evaluation  :</a:t>
            </a:r>
            <a:endParaRPr lang="en-US" sz="4325" b="1">
              <a:solidFill>
                <a:srgbClr val="FFFFFF"/>
              </a:solidFill>
              <a:latin typeface="Agrandir Bold" panose="00000800000000000000"/>
              <a:ea typeface="Agrandir Bold" panose="00000800000000000000"/>
              <a:cs typeface="Agrandir Bold" panose="00000800000000000000"/>
              <a:sym typeface="Agrandir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139371" y="4119685"/>
            <a:ext cx="7815794" cy="487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095" lvl="1" indent="-443865" algn="l">
              <a:lnSpc>
                <a:spcPts val="5425"/>
              </a:lnSpc>
              <a:buAutoNum type="arabicPeriod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N</a:t>
            </a: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umber :   Push to Stack.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87095" lvl="1" indent="-443865" algn="l">
              <a:lnSpc>
                <a:spcPts val="5425"/>
              </a:lnSpc>
              <a:buAutoNum type="arabicPeriod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Operator :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87095" lvl="1" indent="-443865" algn="l">
              <a:lnSpc>
                <a:spcPts val="5425"/>
              </a:lnSpc>
              <a:buFont typeface="Arial" panose="020B0604020202020204"/>
              <a:buChar char="•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                  Pop two operands (A  then  B).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87095" lvl="1" indent="-443865" algn="l">
              <a:lnSpc>
                <a:spcPts val="5425"/>
              </a:lnSpc>
              <a:buFont typeface="Arial" panose="020B0604020202020204"/>
              <a:buChar char="•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                 Apply operation (B   [operator]   A).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87095" lvl="1" indent="-443865" algn="l">
              <a:lnSpc>
                <a:spcPts val="5425"/>
              </a:lnSpc>
              <a:buFont typeface="Arial" panose="020B0604020202020204"/>
              <a:buChar char="•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                 Push result back to Stack.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marL="887095" lvl="1" indent="-443865" algn="l">
              <a:lnSpc>
                <a:spcPts val="5425"/>
              </a:lnSpc>
              <a:buAutoNum type="arabicPeriod"/>
            </a:pPr>
            <a:r>
              <a:rPr lang="en-US" sz="4110" spc="-201">
                <a:solidFill>
                  <a:srgbClr val="FFFFFF"/>
                </a:solidFill>
                <a:latin typeface="Times New Roman MT Condensed" panose="02030506070405020303"/>
                <a:ea typeface="Times New Roman MT Condensed" panose="02030506070405020303"/>
                <a:cs typeface="Times New Roman MT Condensed" panose="02030506070405020303"/>
                <a:sym typeface="Times New Roman MT Condensed" panose="02030506070405020303"/>
              </a:rPr>
              <a:t>Final Result :   The last value in the Stack.</a:t>
            </a:r>
            <a:endParaRPr lang="en-US" sz="4110" spc="-201">
              <a:solidFill>
                <a:srgbClr val="FFFFFF"/>
              </a:solidFill>
              <a:latin typeface="Times New Roman MT Condensed" panose="02030506070405020303"/>
              <a:ea typeface="Times New Roman MT Condensed" panose="02030506070405020303"/>
              <a:cs typeface="Times New Roman MT Condensed" panose="02030506070405020303"/>
              <a:sym typeface="Times New Roman MT Condensed" panose="02030506070405020303"/>
            </a:endParaRPr>
          </a:p>
          <a:p>
            <a:pPr algn="l">
              <a:lnSpc>
                <a:spcPts val="54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45310" y="1964194"/>
            <a:ext cx="10945668" cy="8218757"/>
          </a:xfrm>
          <a:custGeom>
            <a:avLst/>
            <a:gdLst/>
            <a:ahLst/>
            <a:cxnLst/>
            <a:rect l="l" t="t" r="r" b="b"/>
            <a:pathLst>
              <a:path w="10945668" h="8218757">
                <a:moveTo>
                  <a:pt x="0" y="0"/>
                </a:moveTo>
                <a:lnTo>
                  <a:pt x="10945668" y="0"/>
                </a:lnTo>
                <a:lnTo>
                  <a:pt x="10945668" y="8218757"/>
                </a:lnTo>
                <a:lnTo>
                  <a:pt x="0" y="82187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34" t="-434" b="-43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6876" y="536232"/>
            <a:ext cx="3841389" cy="138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5"/>
              </a:lnSpc>
            </a:pPr>
            <a:r>
              <a:rPr lang="en-US" sz="6000" spc="-401">
                <a:solidFill>
                  <a:srgbClr val="38B6FF"/>
                </a:solidFill>
                <a:latin typeface="Arial Black" panose="020B0A04020102020204" charset="0"/>
                <a:ea typeface="Norwester" panose="00000506000000000000"/>
                <a:cs typeface="Arial Black" panose="020B0A04020102020204" charset="0"/>
                <a:sym typeface="Norwester" panose="00000506000000000000"/>
              </a:rPr>
              <a:t>EXAMPLE  </a:t>
            </a:r>
            <a:endParaRPr lang="en-US" sz="6000" spc="-401">
              <a:solidFill>
                <a:srgbClr val="38B6FF"/>
              </a:solidFill>
              <a:latin typeface="Arial Black" panose="020B0A04020102020204" charset="0"/>
              <a:ea typeface="Norwester" panose="00000506000000000000"/>
              <a:cs typeface="Arial Black" panose="020B0A04020102020204" charset="0"/>
              <a:sym typeface="Norwester" panose="00000506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631687" y="1102390"/>
            <a:ext cx="9817248" cy="86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5"/>
              </a:lnSpc>
              <a:spcBef>
                <a:spcPct val="0"/>
              </a:spcBef>
            </a:pPr>
            <a:r>
              <a:rPr lang="en-US" sz="4700" b="1" spc="-230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INFIX EXPRESSION :   </a:t>
            </a:r>
            <a:r>
              <a:rPr lang="en-US" sz="4700" b="1" spc="-230">
                <a:solidFill>
                  <a:srgbClr val="38B6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 + b * c</a:t>
            </a:r>
            <a:endParaRPr lang="en-US" sz="4700" b="1" spc="-230">
              <a:solidFill>
                <a:srgbClr val="38B6FF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WPS Presentation</Application>
  <PresentationFormat>On-screen Show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Norwester</vt:lpstr>
      <vt:lpstr>Segoe Print</vt:lpstr>
      <vt:lpstr>Arial</vt:lpstr>
      <vt:lpstr>Times New Roman MT</vt:lpstr>
      <vt:lpstr>Times New Roman MT Bold</vt:lpstr>
      <vt:lpstr>Agrandir Bold</vt:lpstr>
      <vt:lpstr>Times New Roman MT Condensed</vt:lpstr>
      <vt:lpstr>Microsoft YaHei</vt:lpstr>
      <vt:lpstr>Arial Unicode MS</vt:lpstr>
      <vt:lpstr>Calibri</vt:lpstr>
      <vt:lpstr>Arial Black</vt:lpstr>
      <vt:lpstr>Bahnschrift Condensed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Mathematical Expression Evaluator</dc:title>
  <dc:creator/>
  <cp:lastModifiedBy>Sanjana Reddy</cp:lastModifiedBy>
  <cp:revision>3</cp:revision>
  <dcterms:created xsi:type="dcterms:W3CDTF">2006-08-16T00:00:00Z</dcterms:created>
  <dcterms:modified xsi:type="dcterms:W3CDTF">2026-04-29T17:52:03Z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4365DDD9012249F19FA79F843AF5B7E0_13</vt:lpwstr>
  </property>
  <property fmtid="{D5CDD505-2E9C-101B-9397-08002B2CF9AE}" pid="3" name="KSOProductBuildVer">
    <vt:lpwstr>1033-12.1.0.25862</vt:lpwstr>
  </property>
</Properties>
</file>